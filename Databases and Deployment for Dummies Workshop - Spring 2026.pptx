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DM Sans Medium"/>
      <p:regular r:id="rId42"/>
      <p:bold r:id="rId43"/>
      <p:italic r:id="rId44"/>
      <p:boldItalic r:id="rId45"/>
    </p:embeddedFont>
    <p:embeddedFont>
      <p:font typeface="Chakra Petch Medium"/>
      <p:regular r:id="rId46"/>
      <p:bold r:id="rId47"/>
      <p:italic r:id="rId48"/>
      <p:boldItalic r:id="rId49"/>
    </p:embeddedFont>
    <p:embeddedFont>
      <p:font typeface="DM Mono Medium"/>
      <p:regular r:id="rId50"/>
      <p:italic r:id="rId51"/>
    </p:embeddedFont>
    <p:embeddedFont>
      <p:font typeface="Chakra Petch"/>
      <p:regular r:id="rId52"/>
      <p:bold r:id="rId53"/>
      <p:italic r:id="rId54"/>
      <p:boldItalic r:id="rId55"/>
    </p:embeddedFont>
    <p:embeddedFont>
      <p:font typeface="DM Sans"/>
      <p:regular r:id="rId56"/>
      <p:bold r:id="rId57"/>
      <p:italic r:id="rId58"/>
      <p:boldItalic r:id="rId59"/>
    </p:embeddedFont>
    <p:embeddedFont>
      <p:font typeface="DM Mono"/>
      <p:regular r:id="rId60"/>
      <p: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1FCC81-C0B2-4DC7-A875-90ABD1492FD8}">
  <a:tblStyle styleId="{901FCC81-C0B2-4DC7-A875-90ABD1492F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DMSansMedium-regular.fntdata"/><Relationship Id="rId41" Type="http://schemas.openxmlformats.org/officeDocument/2006/relationships/slide" Target="slides/slide35.xml"/><Relationship Id="rId44" Type="http://schemas.openxmlformats.org/officeDocument/2006/relationships/font" Target="fonts/DMSansMedium-italic.fntdata"/><Relationship Id="rId43" Type="http://schemas.openxmlformats.org/officeDocument/2006/relationships/font" Target="fonts/DMSansMedium-bold.fntdata"/><Relationship Id="rId46" Type="http://schemas.openxmlformats.org/officeDocument/2006/relationships/font" Target="fonts/ChakraPetchMedium-regular.fntdata"/><Relationship Id="rId45" Type="http://schemas.openxmlformats.org/officeDocument/2006/relationships/font" Target="fonts/DM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hakraPetchMedium-italic.fntdata"/><Relationship Id="rId47" Type="http://schemas.openxmlformats.org/officeDocument/2006/relationships/font" Target="fonts/ChakraPetchMedium-bold.fntdata"/><Relationship Id="rId49" Type="http://schemas.openxmlformats.org/officeDocument/2006/relationships/font" Target="fonts/ChakraPetch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DMMon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DMMon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MonoMedium-italic.fntdata"/><Relationship Id="rId50" Type="http://schemas.openxmlformats.org/officeDocument/2006/relationships/font" Target="fonts/DMMonoMedium-regular.fntdata"/><Relationship Id="rId53" Type="http://schemas.openxmlformats.org/officeDocument/2006/relationships/font" Target="fonts/ChakraPetch-bold.fntdata"/><Relationship Id="rId52" Type="http://schemas.openxmlformats.org/officeDocument/2006/relationships/font" Target="fonts/ChakraPetch-regular.fntdata"/><Relationship Id="rId11" Type="http://schemas.openxmlformats.org/officeDocument/2006/relationships/slide" Target="slides/slide5.xml"/><Relationship Id="rId55" Type="http://schemas.openxmlformats.org/officeDocument/2006/relationships/font" Target="fonts/ChakraPetch-boldItalic.fntdata"/><Relationship Id="rId10" Type="http://schemas.openxmlformats.org/officeDocument/2006/relationships/slide" Target="slides/slide4.xml"/><Relationship Id="rId54" Type="http://schemas.openxmlformats.org/officeDocument/2006/relationships/font" Target="fonts/ChakraPetch-italic.fntdata"/><Relationship Id="rId13" Type="http://schemas.openxmlformats.org/officeDocument/2006/relationships/slide" Target="slides/slide7.xml"/><Relationship Id="rId57" Type="http://schemas.openxmlformats.org/officeDocument/2006/relationships/font" Target="fonts/DMSans-bold.fntdata"/><Relationship Id="rId12" Type="http://schemas.openxmlformats.org/officeDocument/2006/relationships/slide" Target="slides/slide6.xml"/><Relationship Id="rId56" Type="http://schemas.openxmlformats.org/officeDocument/2006/relationships/font" Target="fonts/DMSans-regular.fntdata"/><Relationship Id="rId15" Type="http://schemas.openxmlformats.org/officeDocument/2006/relationships/slide" Target="slides/slide9.xml"/><Relationship Id="rId59" Type="http://schemas.openxmlformats.org/officeDocument/2006/relationships/font" Target="fonts/DMSans-boldItalic.fntdata"/><Relationship Id="rId14" Type="http://schemas.openxmlformats.org/officeDocument/2006/relationships/slide" Target="slides/slide8.xml"/><Relationship Id="rId58" Type="http://schemas.openxmlformats.org/officeDocument/2006/relationships/font" Target="fonts/DM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7b1e112c1668a0b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7b1e112c1668a0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7b1e112c1668a0b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7b1e112c1668a0b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b1e112c1668a0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b1e112c1668a0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7b1e112c1668a0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7b1e112c1668a0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b1e112c1668a0b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b1e112c1668a0b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b1e112c1668a0b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7b1e112c1668a0b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7b1e112c1668a0b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7b1e112c1668a0b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b1e112c1668a0b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b1e112c1668a0b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3f234022317ce281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3f234022317ce281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7b1e112c1668a0b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7b1e112c1668a0b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d2bde8c133caea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d2bde8c133caea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7b1e112c1668a0b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7b1e112c1668a0b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7b1e112c1668a0b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7b1e112c1668a0b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7b1e112c1668a0b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7b1e112c1668a0b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7527a1a151dd6a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7527a1a151dd6a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527a1a151dd6aa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7527a1a151dd6aa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527a1a151dd6aa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7527a1a151dd6aa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9355bc03fdb0b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9355bc03fdb0b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9355bc03fdb0b2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19355bc03fdb0b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19355bc03fdb0b2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19355bc03fdb0b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3f234022317ce28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3f234022317ce28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4d2bde8c133caea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4d2bde8c133caea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7b1e112c1668a0b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7b1e112c1668a0b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7b1e112c1668a0b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7b1e112c1668a0b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7b1e112c1668a0b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7b1e112c1668a0b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3f234022317ce281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3f234022317ce281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3f234022317ce281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3f234022317ce28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3f234022317ce28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3f234022317ce28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3f234022317ce28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3f234022317ce28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f234022317ce281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3f234022317ce28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3f234022317ce281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h3f234022317ce281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4d2bde8c133caea2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4d2bde8c133caea2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3f234022317ce28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h3f234022317ce28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39ebf83c6454b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139ebf83c6454b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hakra Petch"/>
              <a:buNone/>
              <a:defRPr b="1" sz="28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 Medium"/>
              <a:buChar char="●"/>
              <a:defRPr sz="18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rogSoc/ddd-workshop-scaffold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supabaseclient.j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upabase.com/dashboard/project/_/integrations/data_api/docs?page=tables-intro" TargetMode="External"/><Relationship Id="rId4" Type="http://schemas.openxmlformats.org/officeDocument/2006/relationships/hyperlink" Target="https://supabase.com/docs/guides/api/sql-to-res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shop.progsoc.org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db_tit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begin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8400" cy="35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 the scaffold for this workshop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DM Mono Medium"/>
                <a:ea typeface="DM Mono Medium"/>
                <a:cs typeface="DM Mono Medium"/>
                <a:sym typeface="DM Mono Medium"/>
                <a:hlinkClick r:id="rId3"/>
              </a:rPr>
              <a:t>https://github.com/ProgSoc/ddd-workshop-scaffold</a:t>
            </a:r>
            <a:endParaRPr sz="10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sure you have the latest version of NodeJS installed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DM Mono Medium"/>
              <a:buChar char="-"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v22.17 or higher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5050" y="955400"/>
            <a:ext cx="4125900" cy="32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5145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We’ll be making everyone’s favorite social media (...again)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NotTwitter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169" y="0"/>
            <a:ext cx="437583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this Workshop will work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hakra Petch Medium"/>
              <a:buChar char="-"/>
            </a:pPr>
            <a:r>
              <a:rPr lang="en">
                <a:latin typeface="Chakra Petch Medium"/>
                <a:ea typeface="Chakra Petch Medium"/>
                <a:cs typeface="Chakra Petch Medium"/>
                <a:sym typeface="Chakra Petch Medium"/>
              </a:rPr>
              <a:t>Part 1: Supabase</a:t>
            </a:r>
            <a:endParaRPr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We’ll be going through the basics of Supabase, and implementing it into the scaffold project!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0" y="1152475"/>
            <a:ext cx="42603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hakra Petch Medium"/>
              <a:buChar char="-"/>
            </a:pPr>
            <a:r>
              <a:rPr lang="en">
                <a:latin typeface="Chakra Petch Medium"/>
                <a:ea typeface="Chakra Petch Medium"/>
                <a:cs typeface="Chakra Petch Medium"/>
                <a:sym typeface="Chakra Petch Medium"/>
              </a:rPr>
              <a:t>Part 2: Cloudflare</a:t>
            </a:r>
            <a:endParaRPr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We’ll be deploying the finished project onto the web!</a:t>
            </a:r>
            <a:endParaRPr sz="14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4417050"/>
            <a:ext cx="85206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Both parts don’t depend on each other. If you get lost in Part 1 once we reach to Part 2, you can still learn the basics of deploying your project with Cloudflare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25016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Exploring the Supabase Dashboard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Implementing Supabase in SvelteKit (supabasejs)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Reading Rows (SELECT)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Posting to Table Rows (INSERT)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4572000" y="2603125"/>
            <a:ext cx="356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Setting up Wrangler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Linking your GitHub repository to Cloudflare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Char char="-"/>
            </a:pPr>
            <a:r>
              <a:rPr lang="en" sz="10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Handling Environment Variables</a:t>
            </a:r>
            <a:endParaRPr sz="10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57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90250" y="2030875"/>
            <a:ext cx="6367800" cy="25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91603"/>
                </a:solidFill>
                <a:latin typeface="DM Sans"/>
                <a:ea typeface="DM Sans"/>
                <a:cs typeface="DM Sans"/>
                <a:sym typeface="DM Sans"/>
              </a:rPr>
              <a:t>Part 1</a:t>
            </a:r>
            <a:endParaRPr b="0" sz="1600">
              <a:solidFill>
                <a:srgbClr val="09160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1603"/>
                </a:solidFill>
              </a:rPr>
              <a:t>Supabase</a:t>
            </a:r>
            <a:endParaRPr b="0"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Supabase?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is an open source Backend as a Service platform built on PostgreSQL.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automatically generates API endpoints based on your database’s schema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Has other features which can come in handy with scaling your </a:t>
            </a:r>
            <a:r>
              <a:rPr lang="en"/>
              <a:t>project</a:t>
            </a:r>
            <a:r>
              <a:rPr lang="en"/>
              <a:t>’s backend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Auth, Storage, Realtime, Edge Functions, etc.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0" y="1202350"/>
            <a:ext cx="9144000" cy="3941100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Organization</a:t>
            </a:r>
            <a:endParaRPr/>
          </a:p>
        </p:txBody>
      </p:sp>
      <p:pic>
        <p:nvPicPr>
          <p:cNvPr id="97" name="Google Shape;97;p19" title="Medal_3ybV6oiqK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999" y="1475200"/>
            <a:ext cx="4572000" cy="305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Project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017725"/>
            <a:ext cx="39564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organization you just created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Give it a name and password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sure Enable Data API is enabled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Disable automatically expose new tables</a:t>
            </a:r>
            <a:endParaRPr/>
          </a:p>
        </p:txBody>
      </p:sp>
      <p:pic>
        <p:nvPicPr>
          <p:cNvPr id="105" name="Google Shape;105;p20" title="Medal_nvZZ8nCuZ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262" y="34813"/>
            <a:ext cx="3823474" cy="507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017725"/>
            <a:ext cx="39564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Our focus will be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Table Editor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Database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0"/>
            <a:ext cx="113145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371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</a:t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4236750" y="0"/>
            <a:ext cx="4907400" cy="5143500"/>
          </a:xfrm>
          <a:prstGeom prst="rect">
            <a:avLst/>
          </a:prstGeom>
          <a:solidFill>
            <a:srgbClr val="1B1D1C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475" y="217290"/>
            <a:ext cx="3711950" cy="4708925"/>
          </a:xfrm>
          <a:prstGeom prst="rect">
            <a:avLst/>
          </a:prstGeom>
          <a:solidFill>
            <a:srgbClr val="131413"/>
          </a:solidFill>
          <a:ln>
            <a:noFill/>
          </a:ln>
        </p:spPr>
      </p:pic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017725"/>
            <a:ext cx="36069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this workshop, we’ll just be playing around with this singular table for NotTwitter.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Name it “posts”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it have a created_at, username, and content column.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Username and content are NOT Nullable.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1951325"/>
            <a:ext cx="9144000" cy="3192000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 Level Security (RLS)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017725"/>
            <a:ext cx="84786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Row Level Security is a feature inside of PostgreSQL which checks if the user has the right permissions to CREATE, READ, UPDATE, or DELETE tables.</a:t>
            </a:r>
            <a:endParaRPr sz="1600"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374" y="2166038"/>
            <a:ext cx="6503250" cy="2762574"/>
          </a:xfrm>
          <a:prstGeom prst="rect">
            <a:avLst/>
          </a:prstGeom>
          <a:solidFill>
            <a:srgbClr val="1B1D1C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4382125" y="28425"/>
            <a:ext cx="4761900" cy="5115000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 Level Security (RLS)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017725"/>
            <a:ext cx="3773400" cy="3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You’ll need to create two Row Level Security policies in order to read and insert into the rows.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Enable Read Access for All 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Enable Insert for All Users</a:t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925" y="490584"/>
            <a:ext cx="4260300" cy="4162342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Scaffold 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workshop’s scaffold is built on SvelteKit.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Supabase provides easy to understand documentation on how to connect Supabase to whatever framework you use for your project.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SvelteKit, it provides the following: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DM Mono Medium"/>
              <a:buChar char="-"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.env 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M Mono Medium"/>
              <a:buChar char="-"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src/lib/</a:t>
            </a:r>
            <a:r>
              <a:rPr lang="en" u="sng">
                <a:solidFill>
                  <a:schemeClr val="hlink"/>
                </a:solidFill>
                <a:latin typeface="DM Mono Medium"/>
                <a:ea typeface="DM Mono Medium"/>
                <a:cs typeface="DM Mono Medium"/>
                <a:sym typeface="DM Mono Medium"/>
                <a:hlinkClick r:id="rId3"/>
              </a:rPr>
              <a:t>supabaseClient.ts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(.env)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017725"/>
            <a:ext cx="39564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.env files are used to store Environment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Environment Variables are values that can be configured outside of your code, such as API keys, database URLs, and configuration settings.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Keep sensitive values out of your source code, and make sure .env is included in your .gitignore so it isn’t accidentally committed to Git.</a:t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29900" r="29694" t="0"/>
          <a:stretch/>
        </p:blipFill>
        <p:spPr>
          <a:xfrm>
            <a:off x="5764338" y="541813"/>
            <a:ext cx="2187325" cy="4059875"/>
          </a:xfrm>
          <a:prstGeom prst="rect">
            <a:avLst/>
          </a:prstGeom>
          <a:solidFill>
            <a:srgbClr val="131413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</a:t>
            </a:r>
            <a:r>
              <a:rPr lang="en"/>
              <a:t>(.env)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017725"/>
            <a:ext cx="39564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find the required environment variables for Supabase by heading to Project Overview and clicking on “Framework (Use a client library)” underneath the Get Connected section.</a:t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1D1C"/>
          </a:solidFill>
          <a:ln cap="flat" cmpd="sng" w="9525">
            <a:solidFill>
              <a:srgbClr val="1314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238" y="594350"/>
            <a:ext cx="4133525" cy="3954799"/>
          </a:xfrm>
          <a:prstGeom prst="rect">
            <a:avLst/>
          </a:prstGeom>
          <a:solidFill>
            <a:srgbClr val="131413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SupabaseJS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017725"/>
            <a:ext cx="85206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</a:t>
            </a:r>
            <a:r>
              <a:rPr lang="en" sz="1600"/>
              <a:t>nstead of having to use the fetch function for API calls, SupabaseJS wraps everything into functions for simplicity.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 </a:t>
            </a:r>
            <a:endParaRPr sz="16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  <p:graphicFrame>
        <p:nvGraphicFramePr>
          <p:cNvPr id="165" name="Google Shape;165;p28"/>
          <p:cNvGraphicFramePr/>
          <p:nvPr/>
        </p:nvGraphicFramePr>
        <p:xfrm>
          <a:off x="311700" y="186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{901FCC81-C0B2-4DC7-A875-90ABD1492FD8}</a:tableStyleId>
              </a:tblPr>
              <a:tblGrid>
                <a:gridCol w="4260300"/>
                <a:gridCol w="4260300"/>
              </a:tblGrid>
              <a:tr h="3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Using Fetch</a:t>
                      </a:r>
                      <a:endParaRPr b="1">
                        <a:solidFill>
                          <a:schemeClr val="dk1"/>
                        </a:solidFill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Using SupabaseJS</a:t>
                      </a:r>
                      <a:endParaRPr b="1">
                        <a:solidFill>
                          <a:schemeClr val="dk1"/>
                        </a:solidFill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242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url = 'https://supabase.co*';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response = await fetch(url, {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method: 'GET',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headers: {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  'apikey': 'your-anon-key',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  'Authorization': 'Bearer your-anon-key'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}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});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data = await response.json();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{ data, error } = await supabase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.from('table')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.select('*');</a:t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to SupabaseJS examples</a:t>
            </a:r>
            <a:endParaRPr/>
          </a:p>
        </p:txBody>
      </p:sp>
      <p:graphicFrame>
        <p:nvGraphicFramePr>
          <p:cNvPr id="171" name="Google Shape;171;p29"/>
          <p:cNvGraphicFramePr/>
          <p:nvPr/>
        </p:nvGraphicFramePr>
        <p:xfrm>
          <a:off x="311700" y="1751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{901FCC81-C0B2-4DC7-A875-90ABD1492FD8}</a:tableStyleId>
              </a:tblPr>
              <a:tblGrid>
                <a:gridCol w="1660225"/>
                <a:gridCol w="4020175"/>
                <a:gridCol w="2840200"/>
              </a:tblGrid>
              <a:tr h="3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What</a:t>
                      </a:r>
                      <a:endParaRPr b="1" sz="12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In </a:t>
                      </a:r>
                      <a:r>
                        <a:rPr b="1" lang="en" sz="12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SQL</a:t>
                      </a:r>
                      <a:endParaRPr b="1" sz="12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In SupabaseJS</a:t>
                      </a:r>
                      <a:endParaRPr b="1" sz="1200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52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Return rows from the table "table_name"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SELECT * FROM posts;</a:t>
                      </a:r>
                      <a:endParaRPr sz="900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{ data, error } = await supabase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.from('posts')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.select('*');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</a:tr>
              <a:tr h="6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Return rows from the table "table_name" WHERE column_name is "value"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SELECT * FROM posts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WHERE username = 'Jane Doe';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{ data, error } = await supabase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.from('posts')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.select('*');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.eq(‘username’, ‘Jane Doe’);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</a:tr>
              <a:tr h="58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Insert a row into the table "table_name"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INSERT INTO table_name (column_1, column_2)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VALUES ('value_1', 'value_2');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{ data, error } = await supabase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.from('table_name')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.insert({ column_1: 'value_1', column_2: 'value_2' });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</a:tr>
              <a:tr h="5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Return rows where column_name contains "search_term" (case insensitive)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SELECT * FROM table_name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WHERE column_name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ILIKE '%search_term%';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const { data, error } = await supabase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.from('table_name')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.select('*')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  .ilike('column_name', '%search_term%'); </a:t>
                      </a:r>
                      <a:endParaRPr sz="900">
                        <a:solidFill>
                          <a:schemeClr val="lt1"/>
                        </a:solidFill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043613"/>
            <a:ext cx="852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DM Sans"/>
                <a:ea typeface="DM Sans"/>
                <a:cs typeface="DM Sans"/>
                <a:sym typeface="DM Sans"/>
              </a:rPr>
              <a:t>Data API Documentation: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https://supabase.com/dashboard/project/_/integrations/data_api/docs?page=tables-intro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latin typeface="DM Sans"/>
                <a:ea typeface="DM Sans"/>
                <a:cs typeface="DM Sans"/>
                <a:sym typeface="DM Sans"/>
              </a:rPr>
              <a:t>SQL to Rest / SupabaseJS translator: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https://supabase.com/docs/guides/api/sql-to-rest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1: Get POs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/routes/+page.server.ts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SQL: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SELECT * FROM messages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SupabaseJS: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const { data, error } = await supabase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.???;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2: Post Messages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/src/lib/components/Post.svelte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SQL: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INSERT INTO messages VALUES (username, content) VALUES (‘user’, ‘hi’)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SupabaseJS: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const { data, error } = await supabase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.???;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3: Get Posts from a user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/routes/search/+page.svelte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SQL: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SELECT * FROM posts WHERE username = “”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SupabaseJS: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const { data, error } = await supabase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.???;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4: Get Messages containing XYZ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/routes/search/+page.svelte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SQL: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SELECT * FROM posts WHERE content ILIKE ‘%XYZ%’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SupabaseJS: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const { data, error } = await supabase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.???;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5: Get Messages from a user AND contains XYZ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/routes/search/+page.svelte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SQL: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SELECT * FROM posts WHERE username = ‘jeff’ AND content LIKE ‘%XYZ%’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SupabaseJS: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const { data, error } = await supabase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DM Mono Medium"/>
                <a:ea typeface="DM Mono Medium"/>
                <a:cs typeface="DM Mono Medium"/>
                <a:sym typeface="DM Mono Medium"/>
              </a:rPr>
              <a:t>.???;</a:t>
            </a:r>
            <a:endParaRPr sz="1400"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BREAK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017725"/>
            <a:ext cx="85206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I’ll give you about 5-10 minutes to do random stuff to the styling of NotTwitter so it’s unique to you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5744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490250" y="2030875"/>
            <a:ext cx="6367800" cy="25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270B0B"/>
                </a:solidFill>
                <a:latin typeface="DM Sans"/>
                <a:ea typeface="DM Sans"/>
                <a:cs typeface="DM Sans"/>
                <a:sym typeface="DM Sans"/>
              </a:rPr>
              <a:t>Part 2</a:t>
            </a:r>
            <a:endParaRPr b="0" sz="1600">
              <a:solidFill>
                <a:srgbClr val="270B0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0B0B"/>
                </a:solidFill>
              </a:rPr>
              <a:t>Cloudflare Workers</a:t>
            </a:r>
            <a:endParaRPr b="0" sz="1600">
              <a:solidFill>
                <a:srgbClr val="270B0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Cloudflare </a:t>
            </a:r>
            <a:r>
              <a:rPr lang="en"/>
              <a:t>Workers?</a:t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8520600" cy="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Workers is a platform that Cloudflare provides which lets you deploy your apps across their network.</a:t>
            </a:r>
            <a:endParaRPr/>
          </a:p>
        </p:txBody>
      </p:sp>
      <p:sp>
        <p:nvSpPr>
          <p:cNvPr id="220" name="Google Shape;220;p37"/>
          <p:cNvSpPr/>
          <p:nvPr/>
        </p:nvSpPr>
        <p:spPr>
          <a:xfrm>
            <a:off x="0" y="2112525"/>
            <a:ext cx="9144000" cy="30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875" y="2297000"/>
            <a:ext cx="4728248" cy="266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Wrangler Setup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Setup Wrangler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npx wrangler setup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your project’s types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DM Mono Medium"/>
              <a:buChar char="-"/>
            </a:pPr>
            <a:r>
              <a:rPr lang="en">
                <a:latin typeface="DM Mono Medium"/>
                <a:ea typeface="DM Mono Medium"/>
                <a:cs typeface="DM Mono Medium"/>
                <a:sym typeface="DM Mono Medium"/>
              </a:rPr>
              <a:t>npx wrangler types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Publish your project to GitHub!</a:t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M Mono Medium"/>
              <a:ea typeface="DM Mono Medium"/>
              <a:cs typeface="DM Mono Medium"/>
              <a:sym typeface="DM Mon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Repo to Worker</a:t>
            </a:r>
            <a:endParaRPr/>
          </a:p>
        </p:txBody>
      </p:sp>
      <p:pic>
        <p:nvPicPr>
          <p:cNvPr id="234" name="Google Shape;234;p39" title="chrome_R6OaFADgS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212" y="1202100"/>
            <a:ext cx="4223576" cy="27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1017725"/>
            <a:ext cx="3898500" cy="3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you’ve published your repo and linked your GitHub account to Cloudflare.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Every </a:t>
            </a:r>
            <a:r>
              <a:rPr lang="en"/>
              <a:t>commit you do to the main inside of your repo will automatically build on Wrangler.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/>
          <p:nvPr/>
        </p:nvSpPr>
        <p:spPr>
          <a:xfrm>
            <a:off x="0" y="1612950"/>
            <a:ext cx="9144000" cy="35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41" name="Google Shape;24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Repo to Worker</a:t>
            </a:r>
            <a:endParaRPr/>
          </a:p>
        </p:txBody>
      </p:sp>
      <p:pic>
        <p:nvPicPr>
          <p:cNvPr id="242" name="Google Shape;242;p40" title="chrome_LdvGCSow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549" y="1800780"/>
            <a:ext cx="5122899" cy="32104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017725"/>
            <a:ext cx="85206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Select the ddd-scaffold-workshop repository in your account.</a:t>
            </a:r>
            <a:endParaRPr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/>
          <p:nvPr/>
        </p:nvSpPr>
        <p:spPr>
          <a:xfrm>
            <a:off x="0" y="1612950"/>
            <a:ext cx="9144000" cy="35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Repo to Worker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017725"/>
            <a:ext cx="85206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Make sure your build and deploy commands look the same</a:t>
            </a:r>
            <a:endParaRPr sz="1200"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537" y="1772812"/>
            <a:ext cx="5352925" cy="32106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/>
          <p:nvPr/>
        </p:nvSpPr>
        <p:spPr>
          <a:xfrm>
            <a:off x="0" y="1612950"/>
            <a:ext cx="9144000" cy="353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Variables in Cloudflare</a:t>
            </a:r>
            <a:endParaRPr/>
          </a:p>
        </p:txBody>
      </p:sp>
      <p:pic>
        <p:nvPicPr>
          <p:cNvPr id="258" name="Google Shape;258;p42" title="chrome_WGWjeiz2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226" y="1855149"/>
            <a:ext cx="5267548" cy="31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017725"/>
            <a:ext cx="85206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We only defined our environment variables in our development build, what about in our production build?</a:t>
            </a:r>
            <a:endParaRPr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/>
          <p:nvPr/>
        </p:nvSpPr>
        <p:spPr>
          <a:xfrm>
            <a:off x="4572000" y="-15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409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Variables in Cloudflare</a:t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 rotWithShape="1">
          <a:blip r:embed="rId3">
            <a:alphaModFix/>
          </a:blip>
          <a:srcRect b="0" l="24850" r="36003" t="0"/>
          <a:stretch/>
        </p:blipFill>
        <p:spPr>
          <a:xfrm>
            <a:off x="5151738" y="154088"/>
            <a:ext cx="3412521" cy="48353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369025"/>
            <a:ext cx="4097400" cy="22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Add your public key and url for Supabase into the Build’s variables and secrets.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/>
          <p:nvPr/>
        </p:nvSpPr>
        <p:spPr>
          <a:xfrm>
            <a:off x="4572000" y="-15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445025"/>
            <a:ext cx="409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Domains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311700" y="1017725"/>
            <a:ext cx="4097400" cy="3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Cloudflare provides you with a free subdomain to share your project.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can also link your domain (if you’ve connected it to Cloudflare) to the worker.</a:t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125" y="1375762"/>
            <a:ext cx="4195751" cy="23919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1152475"/>
            <a:ext cx="3773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Btw…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3773400" cy="29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Quantum@UTS x ProgSoc Hackathon </a:t>
            </a:r>
            <a:r>
              <a:rPr lang="en"/>
              <a:t>(Wednesday)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Intro to CI/CD (Friday)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GOT MERCH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Duckism (</a:t>
            </a:r>
            <a:r>
              <a:rPr lang="en" u="sng">
                <a:solidFill>
                  <a:schemeClr val="hlink"/>
                </a:solidFill>
                <a:hlinkClick r:id="rId3"/>
              </a:rPr>
              <a:t>shop.progsoc.org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6"/>
          <p:cNvPicPr preferRelativeResize="0"/>
          <p:nvPr/>
        </p:nvPicPr>
        <p:blipFill rotWithShape="1">
          <a:blip r:embed="rId4">
            <a:alphaModFix/>
          </a:blip>
          <a:srcRect b="4687" l="0" r="0" t="9469"/>
          <a:stretch/>
        </p:blipFill>
        <p:spPr>
          <a:xfrm>
            <a:off x="4591875" y="0"/>
            <a:ext cx="4552126" cy="260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1875" y="2571750"/>
            <a:ext cx="4552125" cy="256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